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heme/theme2.xml" ContentType="application/vnd.openxmlformats-officedocument.them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heme/theme3.xml" ContentType="application/vnd.openxmlformats-officedocument.them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5"/>
  </p:sldMasterIdLst>
  <p:notesMasterIdLst>
    <p:notesMasterId r:id="rId15"/>
  </p:notesMasterIdLst>
  <p:handoutMasterIdLst>
    <p:handoutMasterId r:id="rId16"/>
  </p:handoutMasterIdLst>
  <p:sldIdLst>
    <p:sldId id="267" r:id="rId6"/>
    <p:sldId id="344" r:id="rId7"/>
    <p:sldId id="1068" r:id="rId8"/>
    <p:sldId id="1017" r:id="rId9"/>
    <p:sldId id="1069" r:id="rId10"/>
    <p:sldId id="1048" r:id="rId11"/>
    <p:sldId id="1062" r:id="rId12"/>
    <p:sldId id="1060" r:id="rId13"/>
    <p:sldId id="257" r:id="rId14"/>
  </p:sldIdLst>
  <p:sldSz cx="12192000" cy="6858000"/>
  <p:notesSz cx="6797675" cy="9926638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1" userDrawn="1">
          <p15:clr>
            <a:srgbClr val="A4A3A4"/>
          </p15:clr>
        </p15:guide>
        <p15:guide id="2" orient="horz" pos="619" userDrawn="1">
          <p15:clr>
            <a:srgbClr val="A4A3A4"/>
          </p15:clr>
        </p15:guide>
        <p15:guide id="3" orient="horz" pos="439" userDrawn="1">
          <p15:clr>
            <a:srgbClr val="A4A3A4"/>
          </p15:clr>
        </p15:guide>
        <p15:guide id="4" orient="horz" pos="6074" userDrawn="1">
          <p15:clr>
            <a:srgbClr val="A4A3A4"/>
          </p15:clr>
        </p15:guide>
        <p15:guide id="5" pos="4008" userDrawn="1">
          <p15:clr>
            <a:srgbClr val="A4A3A4"/>
          </p15:clr>
        </p15:guide>
        <p15:guide id="6" pos="274" userDrawn="1">
          <p15:clr>
            <a:srgbClr val="A4A3A4"/>
          </p15:clr>
        </p15:guide>
        <p15:guide id="7" pos="795" userDrawn="1">
          <p15:clr>
            <a:srgbClr val="A4A3A4"/>
          </p15:clr>
        </p15:guide>
        <p15:guide id="8" pos="37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5" autoAdjust="0"/>
    <p:restoredTop sz="94404" autoAdjust="0"/>
  </p:normalViewPr>
  <p:slideViewPr>
    <p:cSldViewPr snapToObjects="1" showGuides="1">
      <p:cViewPr varScale="1">
        <p:scale>
          <a:sx n="89" d="100"/>
          <a:sy n="89" d="100"/>
        </p:scale>
        <p:origin x="389" y="8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1"/>
        <p:guide orient="horz" pos="619"/>
        <p:guide orient="horz" pos="439"/>
        <p:guide orient="horz" pos="6074"/>
        <p:guide pos="4008"/>
        <p:guide pos="274"/>
        <p:guide pos="795"/>
        <p:guide pos="370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5.png"/><Relationship Id="rId2" Type="http://schemas.openxmlformats.org/officeDocument/2006/relationships/tags" Target="../tags/tag204.xml"/><Relationship Id="rId1" Type="http://schemas.openxmlformats.org/officeDocument/2006/relationships/theme" Target="../theme/theme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0" Type="http://schemas.openxmlformats.org/officeDocument/2006/relationships/tags" Target="../tags/tag21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6797675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22174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6797675" y="9926638"/>
            <a:ext cx="0" cy="0"/>
          </a:xfrm>
          <a:prstGeom prst="rect">
            <a:avLst/>
          </a:prstGeom>
        </p:spPr>
        <p:txBody>
          <a:bodyPr vert="horz" lIns="88221" tIns="44111" rIns="88221" bIns="44111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6797675" y="9926638"/>
            <a:ext cx="0" cy="0"/>
          </a:xfrm>
          <a:prstGeom prst="rect">
            <a:avLst/>
          </a:prstGeom>
        </p:spPr>
        <p:txBody>
          <a:bodyPr vert="horz" lIns="88221" tIns="44111" rIns="88221" bIns="44111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743091" y="9537884"/>
            <a:ext cx="585998" cy="2793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68521" y="413748"/>
            <a:ext cx="2481875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defTabSz="882213" eaLnBrk="0" fontAlgn="auto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398386" y="9258550"/>
            <a:ext cx="930703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defTabSz="882213" eaLnBrk="0" fontAlgn="auto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68521" y="9258550"/>
            <a:ext cx="345051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defTabSz="882213" eaLnBrk="0" fontAlgn="auto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1916443" y="9537884"/>
            <a:ext cx="2964790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 defTabSz="882213" eaLnBrk="0" fontAlgn="auto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2024.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2933556" y="413748"/>
            <a:ext cx="930564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 defTabSz="882213" eaLnBrk="0" fontAlgn="auto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2932220" y="413748"/>
            <a:ext cx="931901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 defTabSz="882213" eaLnBrk="0" fontAlgn="auto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68520" y="9537884"/>
            <a:ext cx="585998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defTabSz="882213" eaLnBrk="0" fontAlgn="auto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12 Mar 2024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416722" y="286281"/>
            <a:ext cx="843460" cy="40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00.xml"/><Relationship Id="rId3" Type="http://schemas.openxmlformats.org/officeDocument/2006/relationships/tags" Target="../tags/tag195.xml"/><Relationship Id="rId7" Type="http://schemas.openxmlformats.org/officeDocument/2006/relationships/tags" Target="../tags/tag199.xml"/><Relationship Id="rId12" Type="http://schemas.openxmlformats.org/officeDocument/2006/relationships/image" Target="../media/image5.png"/><Relationship Id="rId2" Type="http://schemas.openxmlformats.org/officeDocument/2006/relationships/tags" Target="../tags/tag194.xml"/><Relationship Id="rId1" Type="http://schemas.openxmlformats.org/officeDocument/2006/relationships/theme" Target="../theme/theme2.xml"/><Relationship Id="rId6" Type="http://schemas.openxmlformats.org/officeDocument/2006/relationships/tags" Target="../tags/tag198.xml"/><Relationship Id="rId11" Type="http://schemas.openxmlformats.org/officeDocument/2006/relationships/tags" Target="../tags/tag203.xml"/><Relationship Id="rId5" Type="http://schemas.openxmlformats.org/officeDocument/2006/relationships/tags" Target="../tags/tag197.xml"/><Relationship Id="rId10" Type="http://schemas.openxmlformats.org/officeDocument/2006/relationships/tags" Target="../tags/tag202.xml"/><Relationship Id="rId4" Type="http://schemas.openxmlformats.org/officeDocument/2006/relationships/tags" Target="../tags/tag196.xml"/><Relationship Id="rId9" Type="http://schemas.openxmlformats.org/officeDocument/2006/relationships/tags" Target="../tags/tag20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6875" y="982663"/>
            <a:ext cx="6003925" cy="3378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34047" y="4614113"/>
            <a:ext cx="5928892" cy="4639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6797675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22174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6797675" y="9926638"/>
            <a:ext cx="0" cy="0"/>
          </a:xfrm>
          <a:prstGeom prst="rect">
            <a:avLst/>
          </a:prstGeom>
        </p:spPr>
        <p:txBody>
          <a:bodyPr vert="horz" lIns="88221" tIns="44111" rIns="88221" bIns="44111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6797675" y="9926638"/>
            <a:ext cx="0" cy="0"/>
          </a:xfrm>
          <a:prstGeom prst="rect">
            <a:avLst/>
          </a:prstGeom>
        </p:spPr>
        <p:txBody>
          <a:bodyPr vert="horz" lIns="88221" tIns="44111" rIns="88221" bIns="44111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776941" y="9537884"/>
            <a:ext cx="585998" cy="2793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34046" y="413748"/>
            <a:ext cx="2481875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882213" eaLnBrk="0" fontAlgn="auto" latinLnBrk="0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432236" y="9258550"/>
            <a:ext cx="930703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882213" eaLnBrk="0" fontAlgn="auto" latinLnBrk="0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34047" y="9258550"/>
            <a:ext cx="345051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882213" eaLnBrk="0" fontAlgn="auto" latinLnBrk="0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1916443" y="9537884"/>
            <a:ext cx="2964790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882213" eaLnBrk="0" fontAlgn="auto" latinLnBrk="0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2024.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2933556" y="413748"/>
            <a:ext cx="930564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882213" eaLnBrk="0" fontAlgn="auto" latinLnBrk="0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2932220" y="413748"/>
            <a:ext cx="931901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882213" eaLnBrk="0" fontAlgn="auto" latinLnBrk="0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34047" y="9537884"/>
            <a:ext cx="585998" cy="279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882213" eaLnBrk="0" fontAlgn="auto" latinLnBrk="0" hangingPunct="0">
              <a:spcBef>
                <a:spcPts val="0"/>
              </a:spcBef>
              <a:spcAft>
                <a:spcPts val="289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12 Mar 2024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416722" y="286281"/>
            <a:ext cx="843460" cy="40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99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886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ヘッダー プレースホルダー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2020-12-16</a:t>
            </a:r>
          </a:p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360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82213">
              <a:defRPr/>
            </a:pPr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018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04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2.jp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jpg"/><Relationship Id="rId5" Type="http://schemas.openxmlformats.org/officeDocument/2006/relationships/tags" Target="../tags/tag2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7" Type="http://schemas.openxmlformats.org/officeDocument/2006/relationships/image" Target="../media/image1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3.xml"/><Relationship Id="rId4" Type="http://schemas.openxmlformats.org/officeDocument/2006/relationships/tags" Target="../tags/tag19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2024.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 Mar 2024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>
            <p:custDataLst>
              <p:tags r:id="rId12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FX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FXSHAPE" hidden="1">
            <a:extLst>
              <a:ext uri="{FF2B5EF4-FFF2-40B4-BE49-F238E27FC236}">
                <a16:creationId xmlns:a16="http://schemas.microsoft.com/office/drawing/2014/main" id="{C61DC52C-7796-40BD-BD38-D99974FB82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11952" y="6541008"/>
            <a:ext cx="768096" cy="304800"/>
          </a:xfrm>
        </p:spPr>
        <p:txBody>
          <a:bodyPr wrap="none" lIns="0" tIns="0" rIns="0" bIns="0" anchor="ctr">
            <a:noAutofit/>
          </a:bodyPr>
          <a:lstStyle>
            <a:lvl1pPr algn="ctr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 </a:t>
            </a:r>
            <a:endParaRPr lang="de-DE"/>
          </a:p>
        </p:txBody>
      </p:sp>
      <p:sp>
        <p:nvSpPr>
          <p:cNvPr id="3" name="IFXSHAPE" hidden="1">
            <a:extLst>
              <a:ext uri="{FF2B5EF4-FFF2-40B4-BE49-F238E27FC236}">
                <a16:creationId xmlns:a16="http://schemas.microsoft.com/office/drawing/2014/main" id="{5416CA95-3608-4B3B-919D-B3A175B0D39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087355" y="6541008"/>
            <a:ext cx="384048" cy="304800"/>
          </a:xfrm>
        </p:spPr>
        <p:txBody>
          <a:bodyPr wrap="none" lIns="0" tIns="0" rIns="0" bIns="0" anchor="ctr">
            <a:noAutofit/>
          </a:bodyPr>
          <a:lstStyle>
            <a:lvl1pPr algn="r" fontAlgn="t">
              <a:buClr>
                <a:srgbClr val="928285"/>
              </a:buClr>
              <a:defRPr sz="1333" b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de-DE"/>
              <a:t> </a:t>
            </a:r>
          </a:p>
        </p:txBody>
      </p:sp>
      <p:sp>
        <p:nvSpPr>
          <p:cNvPr id="2" name="IFXSHAPE"/>
          <p:cNvSpPr>
            <a:spLocks noGrp="1"/>
          </p:cNvSpPr>
          <p:nvPr>
            <p:ph type="title" hasCustomPrompt="1"/>
          </p:nvPr>
        </p:nvSpPr>
        <p:spPr>
          <a:xfrm>
            <a:off x="335360" y="188720"/>
            <a:ext cx="9631680" cy="7200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</a:p>
        </p:txBody>
      </p:sp>
      <p:sp>
        <p:nvSpPr>
          <p:cNvPr id="7" name="IFXSHAPE"/>
          <p:cNvSpPr>
            <a:spLocks noGrp="1"/>
          </p:cNvSpPr>
          <p:nvPr>
            <p:ph sz="quarter" idx="13" hasCustomPrompt="1"/>
          </p:nvPr>
        </p:nvSpPr>
        <p:spPr>
          <a:xfrm>
            <a:off x="334434" y="1268414"/>
            <a:ext cx="11522207" cy="51133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FXSHAPE" hidden="1">
            <a:extLst>
              <a:ext uri="{FF2B5EF4-FFF2-40B4-BE49-F238E27FC236}">
                <a16:creationId xmlns:a16="http://schemas.microsoft.com/office/drawing/2014/main" id="{31E8FAFC-1433-4319-961B-EEF394FFD94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34432" y="6541008"/>
            <a:ext cx="384048" cy="304800"/>
          </a:xfrm>
        </p:spPr>
        <p:txBody>
          <a:bodyPr wrap="none" lIns="0" tIns="0" rIns="0" bIns="0" anchor="ctr">
            <a:noAutofit/>
          </a:bodyPr>
          <a:lstStyle>
            <a:lvl1pPr algn="l" fontAlgn="t">
              <a:buClr>
                <a:schemeClr val="accent2"/>
              </a:buClr>
              <a:defRPr sz="933" b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 </a:t>
            </a:r>
            <a:endParaRPr lang="de-DE" b="1"/>
          </a:p>
        </p:txBody>
      </p:sp>
    </p:spTree>
    <p:extLst>
      <p:ext uri="{BB962C8B-B14F-4D97-AF65-F5344CB8AC3E}">
        <p14:creationId xmlns:p14="http://schemas.microsoft.com/office/powerpoint/2010/main" val="2629445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4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de-DE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de-DE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  <p:sldLayoutId id="2147483757" r:id="rId19"/>
  </p:sldLayoutIdLst>
  <p:hf hdr="0" dt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589B28-D26E-44F4-8C62-FEE4AAED4A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FB27639-D1FE-4EB7-81D0-019FC186F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&lt;Assessor Name&gt;</a:t>
            </a:r>
          </a:p>
          <a:p>
            <a:r>
              <a:rPr lang="en-US" dirty="0"/>
              <a:t>&lt;Co-Assessor Name&gt;</a:t>
            </a:r>
          </a:p>
          <a:p>
            <a:r>
              <a:rPr lang="en-US" dirty="0"/>
              <a:t>&lt;Co-Assessor Name&gt;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FB1C68C-D054-4F8D-AA7A-F778CCFFF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3933056"/>
            <a:ext cx="9648464" cy="1118901"/>
          </a:xfrm>
        </p:spPr>
        <p:txBody>
          <a:bodyPr>
            <a:normAutofit/>
          </a:bodyPr>
          <a:lstStyle/>
          <a:p>
            <a:r>
              <a:rPr lang="en-US" dirty="0"/>
              <a:t>&lt;Project Name&gt; </a:t>
            </a:r>
            <a:br>
              <a:rPr lang="en-US" dirty="0"/>
            </a:br>
            <a:r>
              <a:rPr lang="en-US" sz="2000" dirty="0"/>
              <a:t>Project ID: &lt;Project ID&gt;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DFBF5-003A-F71F-4ED8-119CE9201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701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AF98333-51C9-436D-8653-D2B132EF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8" y="12192"/>
            <a:ext cx="9631680" cy="720000"/>
          </a:xfrm>
        </p:spPr>
        <p:txBody>
          <a:bodyPr/>
          <a:lstStyle/>
          <a:p>
            <a:r>
              <a:rPr lang="de-DE" dirty="0"/>
              <a:t>Assessment Information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3D300DE4-269F-403E-8A1B-6FEB717A11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4858" y="1052736"/>
            <a:ext cx="11714228" cy="4392488"/>
          </a:xfrm>
        </p:spPr>
        <p:txBody>
          <a:bodyPr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IN" sz="1400" b="1" dirty="0"/>
              <a:t>Project Name: </a:t>
            </a:r>
            <a:r>
              <a:rPr lang="en-IN" sz="1400" i="1" dirty="0"/>
              <a:t>&lt;Project name&gt;</a:t>
            </a:r>
            <a:endParaRPr lang="en-US" sz="1400" i="1" dirty="0"/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400" b="1" dirty="0"/>
              <a:t>Assessed Project : </a:t>
            </a:r>
            <a:r>
              <a:rPr lang="en-US" sz="1400" i="1" dirty="0"/>
              <a:t>&lt;</a:t>
            </a:r>
            <a:r>
              <a:rPr lang="de-DE" sz="1400" i="1" dirty="0"/>
              <a:t>Project ID&gt;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400" b="1" dirty="0"/>
              <a:t>Target Level</a:t>
            </a:r>
            <a:r>
              <a:rPr lang="en-US" sz="1400" dirty="0"/>
              <a:t>	: &lt;Target Level&gt;</a:t>
            </a:r>
            <a:endParaRPr lang="en-US" sz="1400" i="1" dirty="0"/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400" b="1" dirty="0"/>
              <a:t>PAM Version : </a:t>
            </a:r>
            <a:r>
              <a:rPr lang="en-US" sz="1400" i="1" dirty="0"/>
              <a:t>&lt;PAM Version&gt;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400" b="1" dirty="0"/>
              <a:t>Target Capability Level: &lt;</a:t>
            </a:r>
            <a:r>
              <a:rPr lang="en-US" sz="1400" i="1" dirty="0"/>
              <a:t>Target Capability Level&gt;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400" b="1" dirty="0"/>
              <a:t>Assessment Timeline: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400" b="1" dirty="0"/>
              <a:t>Enter sponsor name: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400" b="1" dirty="0"/>
              <a:t>Lead assessor name: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sz="1400" b="1" dirty="0"/>
              <a:t>Co-Assessors name:</a:t>
            </a:r>
          </a:p>
        </p:txBody>
      </p:sp>
    </p:spTree>
    <p:extLst>
      <p:ext uri="{BB962C8B-B14F-4D97-AF65-F5344CB8AC3E}">
        <p14:creationId xmlns:p14="http://schemas.microsoft.com/office/powerpoint/2010/main" val="1001420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AF98333-51C9-436D-8653-D2B132EF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58" y="12192"/>
            <a:ext cx="9631680" cy="720000"/>
          </a:xfrm>
        </p:spPr>
        <p:txBody>
          <a:bodyPr/>
          <a:lstStyle/>
          <a:p>
            <a:r>
              <a:rPr lang="de-DE" dirty="0"/>
              <a:t>Assessment Scope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E5EA1A6-1AEC-42FC-828A-B285EF390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527338"/>
              </p:ext>
            </p:extLst>
          </p:nvPr>
        </p:nvGraphicFramePr>
        <p:xfrm>
          <a:off x="407368" y="1340768"/>
          <a:ext cx="9793089" cy="4032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2876">
                  <a:extLst>
                    <a:ext uri="{9D8B030D-6E8A-4147-A177-3AD203B41FA5}">
                      <a16:colId xmlns:a16="http://schemas.microsoft.com/office/drawing/2014/main" val="2628869084"/>
                    </a:ext>
                  </a:extLst>
                </a:gridCol>
                <a:gridCol w="5702238">
                  <a:extLst>
                    <a:ext uri="{9D8B030D-6E8A-4147-A177-3AD203B41FA5}">
                      <a16:colId xmlns:a16="http://schemas.microsoft.com/office/drawing/2014/main" val="3783875356"/>
                    </a:ext>
                  </a:extLst>
                </a:gridCol>
                <a:gridCol w="2117975">
                  <a:extLst>
                    <a:ext uri="{9D8B030D-6E8A-4147-A177-3AD203B41FA5}">
                      <a16:colId xmlns:a16="http://schemas.microsoft.com/office/drawing/2014/main" val="1134965978"/>
                    </a:ext>
                  </a:extLst>
                </a:gridCol>
              </a:tblGrid>
              <a:tr h="469230">
                <a:tc>
                  <a:txBody>
                    <a:bodyPr/>
                    <a:lstStyle/>
                    <a:p>
                      <a:r>
                        <a:rPr lang="de-DE" sz="1300" dirty="0"/>
                        <a:t>Process ID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de-DE" sz="1300" dirty="0"/>
                        <a:t>Process Area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de-DE" sz="1300" dirty="0"/>
                        <a:t>Target Level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183139385"/>
                  </a:ext>
                </a:extLst>
              </a:tr>
              <a:tr h="4692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30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548538597"/>
                  </a:ext>
                </a:extLst>
              </a:tr>
              <a:tr h="4692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de-DE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40104211"/>
                  </a:ext>
                </a:extLst>
              </a:tr>
              <a:tr h="4692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de-DE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452733767"/>
                  </a:ext>
                </a:extLst>
              </a:tr>
              <a:tr h="74783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de-DE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34706482"/>
                  </a:ext>
                </a:extLst>
              </a:tr>
              <a:tr h="4692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DE" sz="1300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418375240"/>
                  </a:ext>
                </a:extLst>
              </a:tr>
              <a:tr h="4692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de-DE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644299"/>
                  </a:ext>
                </a:extLst>
              </a:tr>
              <a:tr h="46923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e-DE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endParaRPr lang="en-IN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de-DE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460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388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D6952-190B-4272-88D2-CA8C8222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Assessment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E32D8E-5E46-4E1E-A5B6-66956C8AE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51634"/>
              </p:ext>
            </p:extLst>
          </p:nvPr>
        </p:nvGraphicFramePr>
        <p:xfrm>
          <a:off x="227348" y="1268760"/>
          <a:ext cx="11737304" cy="3257075"/>
        </p:xfrm>
        <a:graphic>
          <a:graphicData uri="http://schemas.openxmlformats.org/drawingml/2006/table">
            <a:tbl>
              <a:tblPr/>
              <a:tblGrid>
                <a:gridCol w="4033375">
                  <a:extLst>
                    <a:ext uri="{9D8B030D-6E8A-4147-A177-3AD203B41FA5}">
                      <a16:colId xmlns:a16="http://schemas.microsoft.com/office/drawing/2014/main" val="226718868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0660352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79147548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5990583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93290968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923927313"/>
                    </a:ext>
                  </a:extLst>
                </a:gridCol>
                <a:gridCol w="1511241">
                  <a:extLst>
                    <a:ext uri="{9D8B030D-6E8A-4147-A177-3AD203B41FA5}">
                      <a16:colId xmlns:a16="http://schemas.microsoft.com/office/drawing/2014/main" val="753329627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13425697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844726088"/>
                    </a:ext>
                  </a:extLst>
                </a:gridCol>
              </a:tblGrid>
              <a:tr h="504054"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Process Areas</a:t>
                      </a:r>
                    </a:p>
                  </a:txBody>
                  <a:tcPr marL="4800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4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Target</a:t>
                      </a:r>
                      <a:r>
                        <a:rPr lang="de-DE" sz="16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level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4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 1.1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4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 2.1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4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 2.2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4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PA3.1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4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PA3.2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4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CB4A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Achieved</a:t>
                      </a:r>
                      <a:b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de-DE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Level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B4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098658"/>
                  </a:ext>
                </a:extLst>
              </a:tr>
              <a:tr h="389259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172665"/>
                  </a:ext>
                </a:extLst>
              </a:tr>
              <a:tr h="38925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e-DE" sz="1600" b="1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943028"/>
                  </a:ext>
                </a:extLst>
              </a:tr>
              <a:tr h="38925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e-DE" sz="1600" b="1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651506"/>
                  </a:ext>
                </a:extLst>
              </a:tr>
              <a:tr h="417467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e-DE" sz="1600" b="1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337997"/>
                  </a:ext>
                </a:extLst>
              </a:tr>
              <a:tr h="389259"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e-DE" sz="1600" b="1" i="0" u="none" strike="noStrike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203083"/>
                  </a:ext>
                </a:extLst>
              </a:tr>
              <a:tr h="38925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87555"/>
                  </a:ext>
                </a:extLst>
              </a:tr>
              <a:tr h="38925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D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408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148466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69F76-0B7E-47B3-93AD-7BA5BBF1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 </a:t>
            </a:r>
            <a:r>
              <a:rPr lang="en-IN" dirty="0"/>
              <a:t>Full Results Matrix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845F1-651F-4957-B18E-70B8C3D8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8C912-A5A1-406C-BA77-778FCEC5A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3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4A4757-3F66-49F7-8824-B8F3B55B58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Comprehensive Process repository available to cover all the Supporting and Engineering process</a:t>
            </a:r>
          </a:p>
          <a:p>
            <a:pPr>
              <a:lnSpc>
                <a:spcPct val="150000"/>
              </a:lnSpc>
            </a:pPr>
            <a:r>
              <a:rPr lang="en-IN" dirty="0"/>
              <a:t>Integrated tools and work product controls through automated work flow ( EA, Bitbucket, JIRA, CIBR)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30F7EC-5133-4A79-822C-F4636DB34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Gobal</a:t>
            </a:r>
            <a:r>
              <a:rPr lang="en-IN" dirty="0"/>
              <a:t> Strengths </a:t>
            </a:r>
          </a:p>
        </p:txBody>
      </p:sp>
    </p:spTree>
    <p:extLst>
      <p:ext uri="{BB962C8B-B14F-4D97-AF65-F5344CB8AC3E}">
        <p14:creationId xmlns:p14="http://schemas.microsoft.com/office/powerpoint/2010/main" val="237209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36C3C4-A4D8-5933-515A-00DD26DC6F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 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0DDACB-EFF0-AB08-A8AE-E5466680B5C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80E36B-818C-AC25-76AB-9C5538A63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2192"/>
            <a:ext cx="9631680" cy="720000"/>
          </a:xfrm>
        </p:spPr>
        <p:txBody>
          <a:bodyPr/>
          <a:lstStyle/>
          <a:p>
            <a:r>
              <a:rPr lang="en-IN" dirty="0"/>
              <a:t>Global Weakness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992DC8-B27A-9FCA-BF2F-1131659DFD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3129" y="732192"/>
            <a:ext cx="11522207" cy="557739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37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CE746-80AD-7981-E575-5F1F0B6E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13" y="188720"/>
            <a:ext cx="9613068" cy="720000"/>
          </a:xfrm>
        </p:spPr>
        <p:txBody>
          <a:bodyPr/>
          <a:lstStyle/>
          <a:p>
            <a:r>
              <a:rPr lang="en-IN" dirty="0"/>
              <a:t>Process ID: Process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8CFD0-D6BE-6800-C226-0EDB059C9D3C}"/>
              </a:ext>
            </a:extLst>
          </p:cNvPr>
          <p:cNvSpPr txBox="1"/>
          <p:nvPr/>
        </p:nvSpPr>
        <p:spPr bwMode="auto">
          <a:xfrm>
            <a:off x="299153" y="1124744"/>
            <a:ext cx="11593693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IN" sz="1600" b="1" dirty="0"/>
              <a:t>Strength :  </a:t>
            </a:r>
          </a:p>
          <a:p>
            <a:pPr algn="just"/>
            <a:endParaRPr lang="en-IN" sz="1600" dirty="0"/>
          </a:p>
          <a:p>
            <a:pPr algn="just"/>
            <a:r>
              <a:rPr lang="en-IN" sz="1600" b="1" dirty="0"/>
              <a:t>Weakness: </a:t>
            </a:r>
          </a:p>
          <a:p>
            <a:pPr algn="just" defTabSz="576000">
              <a:buClr>
                <a:schemeClr val="tx2"/>
              </a:buClr>
              <a:buSzPct val="100000"/>
            </a:pPr>
            <a:endParaRPr lang="en-GB" sz="1600" b="1" dirty="0"/>
          </a:p>
          <a:p>
            <a:pPr algn="just" defTabSz="576000">
              <a:buClr>
                <a:schemeClr val="tx2"/>
              </a:buClr>
              <a:buSzPct val="100000"/>
            </a:pPr>
            <a:r>
              <a:rPr lang="en-IN" sz="1600" b="1" dirty="0"/>
              <a:t>Suggestions</a:t>
            </a:r>
          </a:p>
          <a:p>
            <a:pPr algn="just" defTabSz="57600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endParaRPr lang="en-GB" sz="1600" dirty="0">
              <a:latin typeface="+mn-lt"/>
            </a:endParaRPr>
          </a:p>
          <a:p>
            <a:pPr defTabSz="576000"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endParaRPr lang="en-IN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614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1358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10GBAEGmsRCrWeMKWDzcgcFAAAAAAADAAAAAAADAAAAAwADAAEA////////BAAAAAMAEAALVNGgrCHzak+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PALAAAAAAAAAAAAACAB////////////////AAAA////////////////BAAAAAMA////////BAAAAAMA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BgEDAAAAAwD///////8lAAZMaW5rZWRTaGFwZVByZXNlbnRhdGlvblNldHRpbmdzRGF0YV8wBQAAAAEABAAAAAAABAAAAAIABAAAAAAA////////BAAAAAAA////////BAAAAAAA////////BAAAAAAA////////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F0GBAEGmsRCrWeMKWDzcgcDRGF0YQAbAAAABExpbmtlZFNoYXBlRGF0YQAFAAAAAAACTmFtZQAZAAAATGlua2VkU2hhcGVzRGF0YVByb3BlcnR5ABBWZXJzaW9uAAAAAAAJTGFzdFdyaXRlAEHvOgOCAQAAAAE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EMPOWER.INTEGRATIONS.LOCALMASTER" val="{&quot;path&quot;:null,&quot;elementId&quot;:&quot;f8120ca7-cceb-428f-a7d0-f20ce9397e1b&quot;,&quot;elementName&quot;:null,&quot;databaseId&quot;:&quot;FDE84254-54DB-49E3-9A0E-CDE72035D530&quot;,&quot;timeStamp&quot;:&quot;2023-05-13T10:42:22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f8120ca7-cceb-428f-a7d0-f20ce9397e1b"/>
  <p:tag name="MIO_UPDATE" val="True"/>
  <p:tag name="MIO_DBID" val="FDE84254-54DB-49E3-9A0E-CDE72035D530"/>
  <p:tag name="MIO_OBJECTNAME" val="Infineon LCD 16:9"/>
  <p:tag name="MIO_FALLBACK_LAYOUT" val="4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18"/>
  <p:tag name="MIO_VERSION" val="13.05.2023 10:42:22"/>
  <p:tag name="MIO_LASTDOWNLOADED" val="25.10.2023 17:29:48.838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_1MIOPlaceholderMapping.2MIOPlaceholderMapping-Infineon 16:9MIOPlaceholderMapping.Presentation title 1MIOPlaceholderMapping.1MIOPlaceholderMapping;Infineon 16:9MIOPlaceholderMapping.IFX_PresentationTitle_2MIOPlaceholderMapping.3MIOPlaceholderMapping-Infineon 16:9MIOPlaceholderMapping.Presentation title 1MIOPlaceholderMapping.1MIOPlaceholderMapping;Infineon 16:9MIOPlaceholderMapping.IFX_PresentationTitle_3MIOPlaceholderMapping.4MIOPlaceholderMapping-Infineon 16:9MIOPlaceholderMapping.Presentation title 1MIOPlaceholderMapping.1MIOPlaceholderMapping;Infineon 16:9MIOPlaceholderMapping.IFX_PresentationTitle_1MIOPlaceholderMapping.2MIOPlaceholderMapping.Picture Placeholder 20MIOPlaceholderMapping.18MIOPlaceholderMapping-Infineon 16:9MIOPlaceholderMapping.Presentation title 1MIOPlaceholderMapping.1MIOPlaceholderMapping.Crystal Picture PlaceholderMIOPlaceholderMapping.15MIOPlaceholderMapping;Infineon 16:9MIOPlaceholderMapping.IFX_PresentationTitle_2MIOPlaceholderMapping.3MIOPlaceholderMapping.Picture Placeholder 20MIOPlaceholderMapping.14MIOPlaceholderMapping-Infineon 16:9MIOPlaceholderMapping.Presentation title 1MIOPlaceholderMapping.1MIOPlaceholderMapping.Crystal Picture PlaceholderMIOPlaceholderMapping.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MIOPlaceholderMapping.1MIOPlaceholderMapping-Infineon 16:9MIOPlaceholderMapping.Presentation title 3MIOPlaceholderMapping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OnlyMIOPlaceholderMapping.5MIOPlaceholderMapping-Infineon 16:9MIOPlaceholderMapping.Title OnlyMIOPlaceholderMapping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ContentMIOPlaceholderMapping.6MIOPlaceholderMapping-Infineon 16:9MIOPlaceholderMapping.Title | contentMIOPlaceholderMapping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wo_ContentMIOPlaceholderMapping.8MIOPlaceholderMapping-Infineon 16:9MIOPlaceholderMapping.2 contentsMIOPlaceholderMapping.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SectionMIOPlaceholderMapping.9MIOPlaceholderMapping-Infineon 16:9MIOPlaceholderMapping.Section 1MIOPlaceholderMapping.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Four_ContentMIOPlaceholderMapping.10MIOPlaceholderMapping-Infineon 16:9MIOPlaceholderMapping.4 contentsMIOPlaceholderMapping.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wo_ColumnsMIOPlaceholderMapping.11MIOPlaceholderMapping-Infineon 16:9MIOPlaceholderMapping.Row | 2 columnsMIOPlaceholderMapping.1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Two_Columns_RowMIOPlaceholderMapping.12MIOPlaceholderMapping-Infineon 16:9MIOPlaceholderMapping.Row | 2 columns | rowMIOPlaceholderMapping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hree_ColumnsMIOPlaceholderMapping.13MIOPlaceholderMapping-Infineon 16:9MIOPlaceholderMapping.3 columnsMIOPlaceholderMapping.1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hree_ColumnsMIOPlaceholderMapping.14MIOPlaceholderMapping-Infineon 16:9MIOPlaceholderMapping.Row | 3 columnsMIOPlaceholderMapping.1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our_ColumnsMIOPlaceholderMapping.15MIOPlaceholderMapping-Infineon 16:9MIOPlaceholderMapping.4 columnsMIOPlaceholderMapping.1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Four_ColumnsMIOPlaceholderMapping.16MIOPlaceholderMapping-Infineon 16:9MIOPlaceholderMapping.Row | 4 columnsMIOPlaceholderMapping.1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EmptyMIOPlaceholderMapping.17MIOPlaceholderMapping-Infineon 16:9MIOPlaceholderMapping.EmptyMIOPlaceholderMapping.1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ullpicMIOPlaceholderMapping.18MIOPlaceholderMapping-Infineon 16:9MIOPlaceholderMapping.FullpicMIOPlaceholderMapping.1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90C27D34-5386-4028-91E6-A12D5BEDDEC8}" vid="{DB9564CA-21EE-4998-A04E-904F94363E89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AAE9148B404486CBFDD74AD2AA0B" ma:contentTypeVersion="2" ma:contentTypeDescription="Create a new document." ma:contentTypeScope="" ma:versionID="a24cc1775e4f53b56bd6bf310015a115">
  <xsd:schema xmlns:xsd="http://www.w3.org/2001/XMLSchema" xmlns:xs="http://www.w3.org/2001/XMLSchema" xmlns:p="http://schemas.microsoft.com/office/2006/metadata/properties" xmlns:ns2="a709603d-609a-478b-a91d-3c5e984c0e79" xmlns:ns3="6ef45842-284e-44e4-b2db-1749e7948b44" targetNamespace="http://schemas.microsoft.com/office/2006/metadata/properties" ma:root="true" ma:fieldsID="f8923fe8aa0ace7ab58ef4ccc8b43a85" ns2:_="" ns3:_="">
    <xsd:import namespace="a709603d-609a-478b-a91d-3c5e984c0e79"/>
    <xsd:import namespace="6ef45842-284e-44e4-b2db-1749e7948b44"/>
    <xsd:element name="properties">
      <xsd:complexType>
        <xsd:sequence>
          <xsd:element name="documentManagement">
            <xsd:complexType>
              <xsd:all>
                <xsd:element ref="ns2:Ver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603d-609a-478b-a91d-3c5e984c0e79" elementFormDefault="qualified">
    <xsd:import namespace="http://schemas.microsoft.com/office/2006/documentManagement/types"/>
    <xsd:import namespace="http://schemas.microsoft.com/office/infopath/2007/PartnerControls"/>
    <xsd:element name="Ver" ma:index="8" nillable="true" ma:displayName="Ver" ma:default="0" ma:internalName="Ver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f45842-284e-44e4-b2db-1749e7948b4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er xmlns="a709603d-609a-478b-a91d-3c5e984c0e79">0</Ver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2014AB-78C2-4F59-9D6E-9572E72F77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09603d-609a-478b-a91d-3c5e984c0e79"/>
    <ds:schemaRef ds:uri="6ef45842-284e-44e4-b2db-1749e7948b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144A13-A380-40B3-9980-61BD11F58D02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a709603d-609a-478b-a91d-3c5e984c0e79"/>
    <ds:schemaRef ds:uri="http://schemas.microsoft.com/office/2006/metadata/properties"/>
    <ds:schemaRef ds:uri="http://schemas.microsoft.com/office/infopath/2007/PartnerControls"/>
    <ds:schemaRef ds:uri="6ef45842-284e-44e4-b2db-1749e7948b44"/>
  </ds:schemaRefs>
</ds:datastoreItem>
</file>

<file path=customXml/itemProps4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2705</TotalTime>
  <Words>225</Words>
  <Application>Microsoft Office PowerPoint</Application>
  <PresentationFormat>Widescreen</PresentationFormat>
  <Paragraphs>61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Calibri</vt:lpstr>
      <vt:lpstr>Verdana</vt:lpstr>
      <vt:lpstr>Infineon 16:9</vt:lpstr>
      <vt:lpstr>&lt;Project Name&gt;  Project ID: &lt;Project ID&gt;</vt:lpstr>
      <vt:lpstr>Assessment Information</vt:lpstr>
      <vt:lpstr>Assessment Scope</vt:lpstr>
      <vt:lpstr>Assessment Results</vt:lpstr>
      <vt:lpstr> Full Results Matrix</vt:lpstr>
      <vt:lpstr>Gobal Strengths </vt:lpstr>
      <vt:lpstr>Global Weakness</vt:lpstr>
      <vt:lpstr>Process ID: Process Name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Krishnan Pradeep (QM ATV SQM)</dc:creator>
  <cp:lastModifiedBy>Padmayya Ashwath Kaspadi (QM SW)</cp:lastModifiedBy>
  <cp:revision>225</cp:revision>
  <cp:lastPrinted>2024-03-20T13:25:18Z</cp:lastPrinted>
  <dcterms:created xsi:type="dcterms:W3CDTF">2023-12-11T04:38:42Z</dcterms:created>
  <dcterms:modified xsi:type="dcterms:W3CDTF">2026-03-15T08:06:50Z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0x010100A655AAE9148B404486CBFDD74AD2AA0B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2024-03-11T18:30:00Z</vt:filetime>
  </property>
  <property fmtid="{D5CDD505-2E9C-101B-9397-08002B2CF9AE}" pid="15" name="empower.integration.Classification.DateFormat">
    <vt:lpwstr>d MMM yyyy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true</vt:lpwstr>
  </property>
  <property fmtid="{D5CDD505-2E9C-101B-9397-08002B2CF9AE}" pid="23" name="MSIP_Label_a15a25aa-e944-415d-b7a7-40f6b9180b6b_SetDate">
    <vt:lpwstr>2023-03-24T13:40:28Z</vt:lpwstr>
  </property>
  <property fmtid="{D5CDD505-2E9C-101B-9397-08002B2CF9AE}" pid="24" name="MSIP_Label_a15a25aa-e944-415d-b7a7-40f6b9180b6b_Method">
    <vt:lpwstr>Standard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73b1d637-b020-4fda-a205-ff5e02ff8705</vt:lpwstr>
  </property>
  <property fmtid="{D5CDD505-2E9C-101B-9397-08002B2CF9AE}" pid="28" name="MSIP_Label_a15a25aa-e944-415d-b7a7-40f6b9180b6b_ContentBits">
    <vt:lpwstr>0</vt:lpwstr>
  </property>
</Properties>
</file>